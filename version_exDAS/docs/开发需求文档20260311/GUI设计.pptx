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324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6F1C5-427C-D72F-C4B5-70E3F1491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4771EA-AD1B-5668-BF9B-9B8F81E33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5DE53-0ADE-984C-06CA-B87E7E0E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B439C-DA07-9173-BF0B-FCDA0913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67519-B8FD-218F-B0B3-9C6843B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10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4780D-812D-134A-5786-051728A3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DEA77-ACC1-587C-DA47-D85A3268D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06FB3C-14BC-92B4-5952-DEEF7E3B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BFDF7-F0A6-CB3A-BF19-DFA078FA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53CB24-225A-FC26-5658-7660BCC0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57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29F68-300D-079A-C705-BBB03975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21D888-581D-9705-39F4-28272BA8F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EE194-5398-0F18-2973-C17DE8D8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DEF88-EA27-7F93-3EFC-16674C2A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9AD54-7B44-E3E8-CD63-ADF38832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97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DE83D-D095-93F8-748A-E05C584CE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EFD7E-ED36-01C1-A804-6FAD02BC4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EDE2DF-00B6-3819-0C00-3D7687951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A314F1-30D7-0CBF-9937-ABD38AB9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DD4508-46BA-1E4D-BEA3-829011A35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C68EF3-0B2A-A7EA-23BA-284121FF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54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9DB3B-AD0F-7BFB-6CAA-B8BCE3BC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66FB3-C105-E916-291E-423EAED64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794D4C-73FA-48A8-C8E7-013A27E38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47AD93-38DF-3C64-DC57-5A023A1BC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A90671-7F7D-F20E-6ADC-2E2C3E258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EFAB5D-B1C9-975A-B95C-E81C6A55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809BB9-E4BB-8BC2-5826-2CE418EF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CBFEAB-8731-2934-D8F4-06A1FAAD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36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A1382-5B07-7E38-E860-84EA20D4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54D4C3-C017-4F3A-1FCB-7A8B27EB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A548F5-A820-3792-AD80-8B85E377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B46731-F32C-DB84-7080-AC2C8038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6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73E130-2435-AFF0-848D-3C7EBF52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80C3DA-6575-2D11-6B3C-D5A27387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0B25EA-69B0-9452-3176-91CE1ADE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92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58DC3-D0C2-290C-DD11-BAAD5FF53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59D3F-A8CC-EC7E-E17A-346BFEC32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D18193-F99A-AD65-6D0B-A1AA137C7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96ACD8-2F87-D719-1243-1DC8B3F5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95D314-E400-50BA-3CBA-9081F34E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1983A0-2F85-D005-5BB2-BD82C818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42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276DA-06AE-ABAA-0E8D-7BD44A63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3544C3-B0A6-8997-B12C-EE6CE131EE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99D292-111F-06B2-8F23-AF1C76A5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2B4EF9-6839-3FBF-2834-0B3DF2F4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4703FF-3D0F-62A3-5CDA-0C69AB63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85DB51-9014-2BE8-281D-C9B04AFC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99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C95BC-B4AE-9D4B-2293-D29C850B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A28F8C-480A-35B5-7BE6-C3FE52799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76A07-7177-FD61-5410-82657460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B581-415C-B9B7-55BB-60FB1A14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94F2F-7D43-D27F-4E87-E7BC5B46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19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156C1F-1F85-D1D8-DC0B-06487EB65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4EFCB-00B5-068A-BB4F-647083E22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6D56A-18BF-BCAF-40FF-88E03D0B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3D804-1099-2922-6040-BF1DCCEF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78AA5-DD14-5CA1-2426-2D23715F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6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82F7F8-F312-28E2-0ED4-994582A4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1DA0ED-7B4A-9E38-31BB-B40ED5317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7FE64-357D-9457-55DA-902BD8A02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68C80-B8FD-4342-B1F1-379B42A523F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42DDD-58E8-CFDC-6148-D5A6D72D6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5D8258-511E-26AE-532D-22E9EF684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B4003-0814-4F0D-8EDA-FC67BA5AE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8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827E551-A1B1-9A1D-6A98-D7F3FF4E61BD}"/>
              </a:ext>
            </a:extLst>
          </p:cNvPr>
          <p:cNvSpPr/>
          <p:nvPr/>
        </p:nvSpPr>
        <p:spPr>
          <a:xfrm>
            <a:off x="1481959" y="1349528"/>
            <a:ext cx="9036795" cy="5114334"/>
          </a:xfrm>
          <a:prstGeom prst="roundRect">
            <a:avLst>
              <a:gd name="adj" fmla="val 22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D1B6B86-98A4-D6C4-A2CC-99912C057195}"/>
              </a:ext>
            </a:extLst>
          </p:cNvPr>
          <p:cNvSpPr/>
          <p:nvPr/>
        </p:nvSpPr>
        <p:spPr>
          <a:xfrm>
            <a:off x="1481958" y="1349528"/>
            <a:ext cx="9036795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41EB8D-84F9-01BE-9394-EE1A019EEE58}"/>
              </a:ext>
            </a:extLst>
          </p:cNvPr>
          <p:cNvSpPr txBox="1"/>
          <p:nvPr/>
        </p:nvSpPr>
        <p:spPr>
          <a:xfrm>
            <a:off x="1481957" y="1292563"/>
            <a:ext cx="284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PCCP-semi 26.3.10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E8B61A-778D-3734-94DC-3F19281D8631}"/>
              </a:ext>
            </a:extLst>
          </p:cNvPr>
          <p:cNvSpPr/>
          <p:nvPr/>
        </p:nvSpPr>
        <p:spPr>
          <a:xfrm>
            <a:off x="10180671" y="1349528"/>
            <a:ext cx="338082" cy="2554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988DE0-B911-E997-EDB8-FD0FA80C7261}"/>
              </a:ext>
            </a:extLst>
          </p:cNvPr>
          <p:cNvSpPr txBox="1"/>
          <p:nvPr/>
        </p:nvSpPr>
        <p:spPr>
          <a:xfrm>
            <a:off x="10180670" y="1292563"/>
            <a:ext cx="33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D5C5064-1869-B6AD-D7A2-A8D648228BFD}"/>
              </a:ext>
            </a:extLst>
          </p:cNvPr>
          <p:cNvSpPr/>
          <p:nvPr/>
        </p:nvSpPr>
        <p:spPr>
          <a:xfrm>
            <a:off x="1572348" y="1680566"/>
            <a:ext cx="515007" cy="4462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62C45A-A37C-106A-12D0-C1A04F79B648}"/>
              </a:ext>
            </a:extLst>
          </p:cNvPr>
          <p:cNvSpPr txBox="1"/>
          <p:nvPr/>
        </p:nvSpPr>
        <p:spPr>
          <a:xfrm>
            <a:off x="1528206" y="1700555"/>
            <a:ext cx="6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logo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64E717-BB40-BB5E-4A88-6FE8260D1F77}"/>
              </a:ext>
            </a:extLst>
          </p:cNvPr>
          <p:cNvSpPr txBox="1"/>
          <p:nvPr/>
        </p:nvSpPr>
        <p:spPr>
          <a:xfrm>
            <a:off x="4644346" y="1639396"/>
            <a:ext cx="28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PCCP</a:t>
            </a:r>
            <a:r>
              <a:rPr lang="zh-CN" altLang="en-US" dirty="0"/>
              <a:t>断丝监测软件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10FF783-8B6C-A90E-98C7-A08F9FFE05A7}"/>
              </a:ext>
            </a:extLst>
          </p:cNvPr>
          <p:cNvSpPr/>
          <p:nvPr/>
        </p:nvSpPr>
        <p:spPr>
          <a:xfrm>
            <a:off x="1481955" y="2165933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9DF3A38-D471-3715-B532-7CD8BA1A1256}"/>
              </a:ext>
            </a:extLst>
          </p:cNvPr>
          <p:cNvSpPr/>
          <p:nvPr/>
        </p:nvSpPr>
        <p:spPr>
          <a:xfrm>
            <a:off x="1481957" y="2421336"/>
            <a:ext cx="9036795" cy="3752450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96016F8-B2C1-D895-17E0-08017217D018}"/>
              </a:ext>
            </a:extLst>
          </p:cNvPr>
          <p:cNvSpPr/>
          <p:nvPr/>
        </p:nvSpPr>
        <p:spPr>
          <a:xfrm>
            <a:off x="2542012" y="2165933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EA70D8B-7678-5B91-E910-556EB7F07068}"/>
              </a:ext>
            </a:extLst>
          </p:cNvPr>
          <p:cNvSpPr/>
          <p:nvPr/>
        </p:nvSpPr>
        <p:spPr>
          <a:xfrm>
            <a:off x="3602069" y="2165933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98339B-A7B3-09CA-F934-4AAE7F59EEC3}"/>
              </a:ext>
            </a:extLst>
          </p:cNvPr>
          <p:cNvSpPr/>
          <p:nvPr/>
        </p:nvSpPr>
        <p:spPr>
          <a:xfrm>
            <a:off x="4662126" y="2165933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4354BA-C1BD-F950-4112-1878BF9D2662}"/>
              </a:ext>
            </a:extLst>
          </p:cNvPr>
          <p:cNvSpPr/>
          <p:nvPr/>
        </p:nvSpPr>
        <p:spPr>
          <a:xfrm>
            <a:off x="4587766" y="2453077"/>
            <a:ext cx="5749159" cy="11225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A481E7-02CE-7D2D-52D1-00DB0D5AF8E5}"/>
              </a:ext>
            </a:extLst>
          </p:cNvPr>
          <p:cNvSpPr/>
          <p:nvPr/>
        </p:nvSpPr>
        <p:spPr>
          <a:xfrm>
            <a:off x="4587765" y="3647385"/>
            <a:ext cx="5749159" cy="1209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F61B90-DDD8-B4EB-6EA3-EA4615EF928D}"/>
              </a:ext>
            </a:extLst>
          </p:cNvPr>
          <p:cNvSpPr/>
          <p:nvPr/>
        </p:nvSpPr>
        <p:spPr>
          <a:xfrm>
            <a:off x="4587764" y="4897973"/>
            <a:ext cx="5749159" cy="1209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08DC37-F5D6-9472-EF16-2764541CB4E6}"/>
              </a:ext>
            </a:extLst>
          </p:cNvPr>
          <p:cNvSpPr/>
          <p:nvPr/>
        </p:nvSpPr>
        <p:spPr>
          <a:xfrm>
            <a:off x="1572348" y="2489179"/>
            <a:ext cx="2833591" cy="36026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E5516F-424E-813F-AD6C-6AF07DC59AB0}"/>
              </a:ext>
            </a:extLst>
          </p:cNvPr>
          <p:cNvSpPr txBox="1"/>
          <p:nvPr/>
        </p:nvSpPr>
        <p:spPr>
          <a:xfrm>
            <a:off x="6546890" y="2829683"/>
            <a:ext cx="28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时域图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DC9509-034A-9322-D306-45FC818D0400}"/>
              </a:ext>
            </a:extLst>
          </p:cNvPr>
          <p:cNvSpPr txBox="1"/>
          <p:nvPr/>
        </p:nvSpPr>
        <p:spPr>
          <a:xfrm>
            <a:off x="5276194" y="5330526"/>
            <a:ext cx="447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信号特征图（短时能量随时间的变化）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F6FF47-2CDD-D556-DD34-559DC31E4557}"/>
              </a:ext>
            </a:extLst>
          </p:cNvPr>
          <p:cNvSpPr txBox="1"/>
          <p:nvPr/>
        </p:nvSpPr>
        <p:spPr>
          <a:xfrm>
            <a:off x="6805444" y="4034396"/>
            <a:ext cx="915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PSD</a:t>
            </a:r>
            <a:r>
              <a:rPr lang="zh-CN" altLang="en-US" dirty="0"/>
              <a:t>图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74619B0-BD20-483E-3CFB-3344D604D7DC}"/>
              </a:ext>
            </a:extLst>
          </p:cNvPr>
          <p:cNvSpPr/>
          <p:nvPr/>
        </p:nvSpPr>
        <p:spPr>
          <a:xfrm>
            <a:off x="1645920" y="2514959"/>
            <a:ext cx="2711670" cy="665818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A486554-1E88-1665-06F2-C35F637FE307}"/>
              </a:ext>
            </a:extLst>
          </p:cNvPr>
          <p:cNvSpPr/>
          <p:nvPr/>
        </p:nvSpPr>
        <p:spPr>
          <a:xfrm>
            <a:off x="1645920" y="3226102"/>
            <a:ext cx="2711670" cy="1251213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D772E1C-1C63-C7CC-F714-2D371C720113}"/>
              </a:ext>
            </a:extLst>
          </p:cNvPr>
          <p:cNvSpPr/>
          <p:nvPr/>
        </p:nvSpPr>
        <p:spPr>
          <a:xfrm>
            <a:off x="1645920" y="4534281"/>
            <a:ext cx="2711670" cy="865200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E9293E-7BCF-6740-E496-AF1C6AA2475A}"/>
              </a:ext>
            </a:extLst>
          </p:cNvPr>
          <p:cNvSpPr txBox="1"/>
          <p:nvPr/>
        </p:nvSpPr>
        <p:spPr>
          <a:xfrm>
            <a:off x="2529399" y="252754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基本设置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CEE5C1C-9158-99CB-E3A3-A24DA8838343}"/>
              </a:ext>
            </a:extLst>
          </p:cNvPr>
          <p:cNvSpPr txBox="1"/>
          <p:nvPr/>
        </p:nvSpPr>
        <p:spPr>
          <a:xfrm>
            <a:off x="1722646" y="2682523"/>
            <a:ext cx="1745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通信端口号：</a:t>
            </a:r>
            <a:r>
              <a:rPr lang="en-US" altLang="zh-CN" sz="1000" dirty="0"/>
              <a:t>3677</a:t>
            </a:r>
            <a:endParaRPr lang="zh-CN" altLang="en-US" sz="1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DADA05A-FF94-59E8-AB6B-0E64328E2271}"/>
              </a:ext>
            </a:extLst>
          </p:cNvPr>
          <p:cNvSpPr txBox="1"/>
          <p:nvPr/>
        </p:nvSpPr>
        <p:spPr>
          <a:xfrm>
            <a:off x="1722644" y="2872383"/>
            <a:ext cx="1905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采样率：默认</a:t>
            </a:r>
            <a:r>
              <a:rPr lang="en-US" altLang="zh-CN" sz="1000" dirty="0"/>
              <a:t>1MHz</a:t>
            </a:r>
            <a:endParaRPr lang="zh-CN" altLang="en-US" sz="1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638DA9-4ADE-3124-1AB8-0DBCE27F502F}"/>
              </a:ext>
            </a:extLst>
          </p:cNvPr>
          <p:cNvSpPr txBox="1"/>
          <p:nvPr/>
        </p:nvSpPr>
        <p:spPr>
          <a:xfrm>
            <a:off x="1645918" y="3243005"/>
            <a:ext cx="2787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/>
              <a:t>绘图与数据处理参数（对应右侧图</a:t>
            </a:r>
            <a:r>
              <a:rPr lang="en-US" altLang="zh-CN" sz="1000" dirty="0"/>
              <a:t>1</a:t>
            </a:r>
            <a:r>
              <a:rPr lang="zh-CN" altLang="en-US" sz="1000" dirty="0"/>
              <a:t>图</a:t>
            </a:r>
            <a:r>
              <a:rPr lang="en-US" altLang="zh-CN" sz="1000" dirty="0"/>
              <a:t>2</a:t>
            </a:r>
            <a:r>
              <a:rPr lang="zh-CN" altLang="en-US" sz="1000" dirty="0"/>
              <a:t>）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B6073D-82D8-CDD3-C04E-74EDB249BCF6}"/>
              </a:ext>
            </a:extLst>
          </p:cNvPr>
          <p:cNvSpPr txBox="1"/>
          <p:nvPr/>
        </p:nvSpPr>
        <p:spPr>
          <a:xfrm>
            <a:off x="1618599" y="3475439"/>
            <a:ext cx="27873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时域图更新频率、信号长度</a:t>
            </a:r>
            <a:endParaRPr lang="en-US" altLang="zh-CN" sz="1000" dirty="0"/>
          </a:p>
          <a:p>
            <a:r>
              <a:rPr lang="zh-CN" altLang="en-US" sz="1000" dirty="0"/>
              <a:t>滤波类型：高通、低通、带通</a:t>
            </a:r>
            <a:endParaRPr lang="en-US" altLang="zh-CN" sz="1000" dirty="0"/>
          </a:p>
          <a:p>
            <a:r>
              <a:rPr lang="zh-CN" altLang="en-US" sz="1000" dirty="0"/>
              <a:t>滤波范围：</a:t>
            </a:r>
            <a:r>
              <a:rPr lang="en-US" altLang="zh-CN" sz="1000" dirty="0"/>
              <a:t>xx</a:t>
            </a:r>
          </a:p>
          <a:p>
            <a:r>
              <a:rPr lang="zh-CN" altLang="en-US" sz="1000" dirty="0"/>
              <a:t>计算</a:t>
            </a:r>
            <a:r>
              <a:rPr lang="en-US" altLang="zh-CN" sz="1000" dirty="0"/>
              <a:t>PSD</a:t>
            </a:r>
            <a:r>
              <a:rPr lang="zh-CN" altLang="en-US" sz="1000" dirty="0"/>
              <a:t>的时长：</a:t>
            </a:r>
            <a:r>
              <a:rPr lang="en-US" altLang="zh-CN" sz="1000" dirty="0"/>
              <a:t>xx</a:t>
            </a:r>
          </a:p>
          <a:p>
            <a:r>
              <a:rPr lang="zh-CN" altLang="en-US" sz="1000" dirty="0"/>
              <a:t>绘图控制按钮：</a:t>
            </a:r>
            <a:endParaRPr lang="en-US" altLang="zh-CN" sz="1000" dirty="0"/>
          </a:p>
          <a:p>
            <a:r>
              <a:rPr lang="zh-CN" altLang="en-US" sz="1000" dirty="0"/>
              <a:t>时域图按钮、</a:t>
            </a:r>
            <a:r>
              <a:rPr lang="en-US" altLang="zh-CN" sz="1000" dirty="0"/>
              <a:t>PSD</a:t>
            </a:r>
            <a:r>
              <a:rPr lang="zh-CN" altLang="en-US" sz="1000" dirty="0"/>
              <a:t>按钮（点击后图更新）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DF6480-2147-7B34-2E44-66A51DF64D67}"/>
              </a:ext>
            </a:extLst>
          </p:cNvPr>
          <p:cNvSpPr txBox="1"/>
          <p:nvPr/>
        </p:nvSpPr>
        <p:spPr>
          <a:xfrm>
            <a:off x="1772044" y="4517207"/>
            <a:ext cx="23511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信号特征绘图参数（对应右侧图</a:t>
            </a:r>
            <a:r>
              <a:rPr lang="en-US" altLang="zh-CN" sz="1000" dirty="0"/>
              <a:t>3</a:t>
            </a:r>
            <a:r>
              <a:rPr lang="zh-CN" altLang="en-US" sz="1000" dirty="0"/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7C7054C-820E-2B1D-FD4D-FE572F6584DE}"/>
              </a:ext>
            </a:extLst>
          </p:cNvPr>
          <p:cNvSpPr txBox="1"/>
          <p:nvPr/>
        </p:nvSpPr>
        <p:spPr>
          <a:xfrm>
            <a:off x="1654415" y="4691594"/>
            <a:ext cx="2703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特征类型：短时能量、峭度等（下拉列表）</a:t>
            </a:r>
            <a:endParaRPr lang="en-US" altLang="zh-CN" sz="1000" dirty="0"/>
          </a:p>
          <a:p>
            <a:r>
              <a:rPr lang="zh-CN" altLang="en-US" sz="1000" dirty="0"/>
              <a:t>短时长度：默认</a:t>
            </a:r>
            <a:r>
              <a:rPr lang="en-US" altLang="zh-CN" sz="1000" dirty="0"/>
              <a:t>0.2 s</a:t>
            </a:r>
            <a:r>
              <a:rPr lang="zh-CN" altLang="en-US" sz="1000" dirty="0"/>
              <a:t>； 窗口重叠：默认</a:t>
            </a:r>
            <a:r>
              <a:rPr lang="en-US" altLang="zh-CN" sz="1000" dirty="0"/>
              <a:t>%</a:t>
            </a:r>
          </a:p>
          <a:p>
            <a:r>
              <a:rPr lang="zh-CN" altLang="en-US" sz="1000" dirty="0"/>
              <a:t>预处理参数（带通滤波）：</a:t>
            </a:r>
            <a:r>
              <a:rPr lang="en-US" altLang="zh-CN" sz="1000" dirty="0"/>
              <a:t>xxx </a:t>
            </a:r>
            <a:r>
              <a:rPr lang="en-US" altLang="zh-CN" sz="1000" dirty="0" err="1"/>
              <a:t>Hz~xx</a:t>
            </a:r>
            <a:r>
              <a:rPr lang="en-US" altLang="zh-CN" sz="1000" dirty="0"/>
              <a:t> Hz</a:t>
            </a:r>
          </a:p>
          <a:p>
            <a:r>
              <a:rPr lang="zh-CN" altLang="en-US" sz="1000" dirty="0"/>
              <a:t>是否绘图按钮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481D9A8-7B87-1B69-3B36-77ACE443A5F0}"/>
              </a:ext>
            </a:extLst>
          </p:cNvPr>
          <p:cNvSpPr/>
          <p:nvPr/>
        </p:nvSpPr>
        <p:spPr>
          <a:xfrm>
            <a:off x="1618599" y="5463575"/>
            <a:ext cx="2711670" cy="608682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7A329D8-F426-9418-C001-1B2A86053EE8}"/>
              </a:ext>
            </a:extLst>
          </p:cNvPr>
          <p:cNvSpPr txBox="1"/>
          <p:nvPr/>
        </p:nvSpPr>
        <p:spPr>
          <a:xfrm>
            <a:off x="1637555" y="5620361"/>
            <a:ext cx="270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存储路径（默</a:t>
            </a:r>
            <a:r>
              <a:rPr lang="en-US" altLang="zh-CN" sz="800" dirty="0"/>
              <a:t>D/PCCP26/FIP-DATA</a:t>
            </a:r>
            <a:r>
              <a:rPr lang="zh-CN" altLang="en-US" sz="800" dirty="0"/>
              <a:t>）</a:t>
            </a:r>
            <a:endParaRPr lang="en-US" altLang="zh-CN" sz="800" dirty="0"/>
          </a:p>
          <a:p>
            <a:r>
              <a:rPr lang="zh-CN" altLang="en-US" sz="800" dirty="0"/>
              <a:t>存储前降采样倍数（默认</a:t>
            </a:r>
            <a:r>
              <a:rPr lang="en-US" altLang="zh-CN" sz="800" dirty="0"/>
              <a:t>1</a:t>
            </a:r>
            <a:r>
              <a:rPr lang="zh-CN" altLang="en-US" sz="800" dirty="0"/>
              <a:t>）；单个文件时长（默认</a:t>
            </a:r>
            <a:r>
              <a:rPr lang="en-US" altLang="zh-CN" sz="800" dirty="0"/>
              <a:t>30s</a:t>
            </a:r>
            <a:r>
              <a:rPr lang="zh-CN" altLang="en-US" sz="800" dirty="0"/>
              <a:t>）</a:t>
            </a:r>
            <a:endParaRPr lang="en-US" altLang="zh-CN" sz="800" dirty="0"/>
          </a:p>
          <a:p>
            <a:r>
              <a:rPr lang="zh-CN" altLang="en-US" sz="800" dirty="0"/>
              <a:t>是否存储按钮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74BB2A9-7F6B-C796-0493-7A424A45360E}"/>
              </a:ext>
            </a:extLst>
          </p:cNvPr>
          <p:cNvSpPr txBox="1"/>
          <p:nvPr/>
        </p:nvSpPr>
        <p:spPr>
          <a:xfrm>
            <a:off x="2524232" y="5449788"/>
            <a:ext cx="9858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数据存储参数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9C81881-5C9B-0EAE-474B-4E2B30A28575}"/>
              </a:ext>
            </a:extLst>
          </p:cNvPr>
          <p:cNvSpPr txBox="1"/>
          <p:nvPr/>
        </p:nvSpPr>
        <p:spPr>
          <a:xfrm>
            <a:off x="1528206" y="6189565"/>
            <a:ext cx="2500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状态条：是否通信成功；通信次数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5988A31-78F9-E4DF-6B87-3C68755BF641}"/>
              </a:ext>
            </a:extLst>
          </p:cNvPr>
          <p:cNvSpPr txBox="1"/>
          <p:nvPr/>
        </p:nvSpPr>
        <p:spPr>
          <a:xfrm>
            <a:off x="1532404" y="35039"/>
            <a:ext cx="281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Tab1: FIP</a:t>
            </a:r>
          </a:p>
          <a:p>
            <a:r>
              <a:rPr lang="en-US" altLang="zh-CN" dirty="0"/>
              <a:t>Tab2: </a:t>
            </a:r>
            <a:r>
              <a:rPr lang="en-US" altLang="zh-CN" dirty="0" err="1"/>
              <a:t>SigID</a:t>
            </a:r>
            <a:endParaRPr lang="en-US" altLang="zh-CN" dirty="0"/>
          </a:p>
          <a:p>
            <a:r>
              <a:rPr lang="en-US" altLang="zh-CN" dirty="0"/>
              <a:t>Tab3: </a:t>
            </a:r>
            <a:r>
              <a:rPr lang="en-US" altLang="zh-CN" dirty="0" err="1"/>
              <a:t>eDAS</a:t>
            </a:r>
            <a:endParaRPr lang="en-US" altLang="zh-CN" dirty="0"/>
          </a:p>
          <a:p>
            <a:r>
              <a:rPr lang="en-US" altLang="zh-CN" dirty="0"/>
              <a:t>Tab4: </a:t>
            </a:r>
            <a:r>
              <a:rPr lang="en-US" altLang="zh-CN" dirty="0" err="1"/>
              <a:t>SigLoc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3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6EC484-214F-99DC-579D-CBF3D2192057}"/>
              </a:ext>
            </a:extLst>
          </p:cNvPr>
          <p:cNvSpPr/>
          <p:nvPr/>
        </p:nvSpPr>
        <p:spPr>
          <a:xfrm>
            <a:off x="1532408" y="744132"/>
            <a:ext cx="9036795" cy="5114334"/>
          </a:xfrm>
          <a:prstGeom prst="roundRect">
            <a:avLst>
              <a:gd name="adj" fmla="val 22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03055F9-6687-2CDD-1682-35028C9F2810}"/>
              </a:ext>
            </a:extLst>
          </p:cNvPr>
          <p:cNvSpPr/>
          <p:nvPr/>
        </p:nvSpPr>
        <p:spPr>
          <a:xfrm>
            <a:off x="1532407" y="744132"/>
            <a:ext cx="9036795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849ED3-BA31-1589-EE3E-59866E7EF407}"/>
              </a:ext>
            </a:extLst>
          </p:cNvPr>
          <p:cNvSpPr txBox="1"/>
          <p:nvPr/>
        </p:nvSpPr>
        <p:spPr>
          <a:xfrm>
            <a:off x="1532406" y="687167"/>
            <a:ext cx="19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FIP 26.3.10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F94F28-CD1D-25DA-4A39-CF8C34858F64}"/>
              </a:ext>
            </a:extLst>
          </p:cNvPr>
          <p:cNvSpPr/>
          <p:nvPr/>
        </p:nvSpPr>
        <p:spPr>
          <a:xfrm>
            <a:off x="10231120" y="744132"/>
            <a:ext cx="338082" cy="2554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C6D32D-A4F0-89DB-652C-2FBA0C60C498}"/>
              </a:ext>
            </a:extLst>
          </p:cNvPr>
          <p:cNvSpPr txBox="1"/>
          <p:nvPr/>
        </p:nvSpPr>
        <p:spPr>
          <a:xfrm>
            <a:off x="10231119" y="687167"/>
            <a:ext cx="33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910671-8834-B87F-B6D4-0753E518244B}"/>
              </a:ext>
            </a:extLst>
          </p:cNvPr>
          <p:cNvSpPr/>
          <p:nvPr/>
        </p:nvSpPr>
        <p:spPr>
          <a:xfrm>
            <a:off x="1622797" y="1075170"/>
            <a:ext cx="515007" cy="4462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C68B33-285B-70ED-B2EB-1936FD401FA0}"/>
              </a:ext>
            </a:extLst>
          </p:cNvPr>
          <p:cNvSpPr txBox="1"/>
          <p:nvPr/>
        </p:nvSpPr>
        <p:spPr>
          <a:xfrm>
            <a:off x="1578655" y="1095159"/>
            <a:ext cx="6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logo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CC7038-9E5E-BA73-9E14-F0DBEB99C0BE}"/>
              </a:ext>
            </a:extLst>
          </p:cNvPr>
          <p:cNvSpPr txBox="1"/>
          <p:nvPr/>
        </p:nvSpPr>
        <p:spPr>
          <a:xfrm>
            <a:off x="4694795" y="1034000"/>
            <a:ext cx="28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PCCP</a:t>
            </a:r>
            <a:r>
              <a:rPr lang="zh-CN" altLang="en-US" dirty="0"/>
              <a:t>断丝监测软件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3819A92-F592-898A-F2C1-6556C34E094F}"/>
              </a:ext>
            </a:extLst>
          </p:cNvPr>
          <p:cNvSpPr/>
          <p:nvPr/>
        </p:nvSpPr>
        <p:spPr>
          <a:xfrm>
            <a:off x="1532404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FA23BC0-6D17-215A-7507-B976A9A4058D}"/>
              </a:ext>
            </a:extLst>
          </p:cNvPr>
          <p:cNvSpPr/>
          <p:nvPr/>
        </p:nvSpPr>
        <p:spPr>
          <a:xfrm>
            <a:off x="1532406" y="1815940"/>
            <a:ext cx="9036795" cy="3752450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9F15C18-22EA-03B5-0BC6-8C96843BE44D}"/>
              </a:ext>
            </a:extLst>
          </p:cNvPr>
          <p:cNvSpPr/>
          <p:nvPr/>
        </p:nvSpPr>
        <p:spPr>
          <a:xfrm>
            <a:off x="2592461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5F7893A-86F8-246A-9CF5-7559CE526B07}"/>
              </a:ext>
            </a:extLst>
          </p:cNvPr>
          <p:cNvSpPr/>
          <p:nvPr/>
        </p:nvSpPr>
        <p:spPr>
          <a:xfrm>
            <a:off x="3652518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47E7616-266F-080C-0321-B8408F27419F}"/>
              </a:ext>
            </a:extLst>
          </p:cNvPr>
          <p:cNvSpPr/>
          <p:nvPr/>
        </p:nvSpPr>
        <p:spPr>
          <a:xfrm>
            <a:off x="4712575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8073C1-5066-8674-CBD6-CDE346D16EAE}"/>
              </a:ext>
            </a:extLst>
          </p:cNvPr>
          <p:cNvSpPr/>
          <p:nvPr/>
        </p:nvSpPr>
        <p:spPr>
          <a:xfrm>
            <a:off x="4638215" y="1847681"/>
            <a:ext cx="5749159" cy="11225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BF4F3E-151B-FB9F-2014-AAAAE4401065}"/>
              </a:ext>
            </a:extLst>
          </p:cNvPr>
          <p:cNvSpPr/>
          <p:nvPr/>
        </p:nvSpPr>
        <p:spPr>
          <a:xfrm>
            <a:off x="4638214" y="3041989"/>
            <a:ext cx="5749159" cy="1209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F67FB5-24B5-B669-12F8-3D9EABD73A52}"/>
              </a:ext>
            </a:extLst>
          </p:cNvPr>
          <p:cNvSpPr/>
          <p:nvPr/>
        </p:nvSpPr>
        <p:spPr>
          <a:xfrm>
            <a:off x="4638213" y="4292577"/>
            <a:ext cx="5749159" cy="12092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6F4BF2-8C36-698E-7B64-DA5BC67E286F}"/>
              </a:ext>
            </a:extLst>
          </p:cNvPr>
          <p:cNvSpPr/>
          <p:nvPr/>
        </p:nvSpPr>
        <p:spPr>
          <a:xfrm>
            <a:off x="1622797" y="1883783"/>
            <a:ext cx="2833591" cy="36026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1B218C-67B7-7B18-B15F-267993004F29}"/>
              </a:ext>
            </a:extLst>
          </p:cNvPr>
          <p:cNvSpPr txBox="1"/>
          <p:nvPr/>
        </p:nvSpPr>
        <p:spPr>
          <a:xfrm>
            <a:off x="6597339" y="2224287"/>
            <a:ext cx="28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短时特征曲线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9538D4-8B01-6C38-CA12-6A638F30311C}"/>
              </a:ext>
            </a:extLst>
          </p:cNvPr>
          <p:cNvSpPr txBox="1"/>
          <p:nvPr/>
        </p:nvSpPr>
        <p:spPr>
          <a:xfrm>
            <a:off x="6489087" y="4698276"/>
            <a:ext cx="281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短时特征曲线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FBE5A4-8626-3F2F-0BA0-3CC8683C742C}"/>
              </a:ext>
            </a:extLst>
          </p:cNvPr>
          <p:cNvSpPr txBox="1"/>
          <p:nvPr/>
        </p:nvSpPr>
        <p:spPr>
          <a:xfrm>
            <a:off x="6551618" y="3429000"/>
            <a:ext cx="19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短时特征曲线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60F4225-C8F9-FB97-0F07-CD0FA6D933A4}"/>
              </a:ext>
            </a:extLst>
          </p:cNvPr>
          <p:cNvSpPr/>
          <p:nvPr/>
        </p:nvSpPr>
        <p:spPr>
          <a:xfrm>
            <a:off x="1696369" y="1909562"/>
            <a:ext cx="2711670" cy="1519438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966B121-2245-9C6D-90A4-394D510C2BEE}"/>
              </a:ext>
            </a:extLst>
          </p:cNvPr>
          <p:cNvSpPr/>
          <p:nvPr/>
        </p:nvSpPr>
        <p:spPr>
          <a:xfrm>
            <a:off x="1696369" y="3578794"/>
            <a:ext cx="2711670" cy="496757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359ED5-DD7B-42B1-FD7D-D05300D3F40E}"/>
              </a:ext>
            </a:extLst>
          </p:cNvPr>
          <p:cNvSpPr txBox="1"/>
          <p:nvPr/>
        </p:nvSpPr>
        <p:spPr>
          <a:xfrm>
            <a:off x="2579848" y="1922145"/>
            <a:ext cx="9749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信号检测设置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DEA8E73-8C9E-3A22-ACF2-D2B9D33820B0}"/>
              </a:ext>
            </a:extLst>
          </p:cNvPr>
          <p:cNvSpPr txBox="1"/>
          <p:nvPr/>
        </p:nvSpPr>
        <p:spPr>
          <a:xfrm>
            <a:off x="1741564" y="2082459"/>
            <a:ext cx="2639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特征设置（通过打对勾选择，可多选）：</a:t>
            </a:r>
            <a:endParaRPr lang="en-US" altLang="zh-CN" sz="1000" dirty="0"/>
          </a:p>
          <a:p>
            <a:pPr lvl="1"/>
            <a:r>
              <a:rPr lang="zh-CN" altLang="en-US" sz="1000" dirty="0"/>
              <a:t>短时能量</a:t>
            </a:r>
            <a:endParaRPr lang="en-US" altLang="zh-CN" sz="1000" dirty="0"/>
          </a:p>
          <a:p>
            <a:pPr lvl="1"/>
            <a:r>
              <a:rPr lang="zh-CN" altLang="en-US" sz="1000" dirty="0"/>
              <a:t>峭度</a:t>
            </a:r>
            <a:endParaRPr lang="en-US" altLang="zh-CN" sz="1000" dirty="0"/>
          </a:p>
          <a:p>
            <a:pPr lvl="1"/>
            <a:r>
              <a:rPr lang="zh-CN" altLang="en-US" sz="1000" dirty="0"/>
              <a:t>中心频率等</a:t>
            </a:r>
            <a:endParaRPr lang="en-US" altLang="zh-CN" sz="1000" dirty="0"/>
          </a:p>
          <a:p>
            <a:pPr marL="0" lvl="1"/>
            <a:r>
              <a:rPr lang="zh-CN" altLang="en-US" sz="1000" dirty="0"/>
              <a:t>短时窗口长度：；预处理（即计算特征前的滤波范围）设置；</a:t>
            </a:r>
            <a:endParaRPr lang="en-US" altLang="zh-CN" sz="1000" dirty="0"/>
          </a:p>
          <a:p>
            <a:pPr marL="0" lvl="1"/>
            <a:r>
              <a:rPr lang="zh-CN" altLang="en-US" sz="1000" dirty="0"/>
              <a:t>阈值设置：软阈值</a:t>
            </a:r>
            <a:r>
              <a:rPr lang="en-US" altLang="zh-CN" sz="1000" dirty="0"/>
              <a:t>/xx/…</a:t>
            </a:r>
          </a:p>
          <a:p>
            <a:pPr marL="0" lvl="1"/>
            <a:r>
              <a:rPr lang="zh-CN" altLang="en-US" sz="1000" dirty="0"/>
              <a:t>“开始检测”按钮</a:t>
            </a:r>
            <a:endParaRPr lang="en-US" altLang="zh-CN" sz="10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3964B8-D9BA-0CDC-AEDA-33C3F1032AD3}"/>
              </a:ext>
            </a:extLst>
          </p:cNvPr>
          <p:cNvSpPr txBox="1"/>
          <p:nvPr/>
        </p:nvSpPr>
        <p:spPr>
          <a:xfrm>
            <a:off x="2280457" y="3572212"/>
            <a:ext cx="1238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绘图设置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88A2551-0885-042C-2241-63BFF6A5B718}"/>
              </a:ext>
            </a:extLst>
          </p:cNvPr>
          <p:cNvSpPr txBox="1"/>
          <p:nvPr/>
        </p:nvSpPr>
        <p:spPr>
          <a:xfrm>
            <a:off x="1700616" y="3764708"/>
            <a:ext cx="2703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勾选哪个特征，哪个特征就绘图（最多三个）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9A0B7BC-92A2-D821-F638-C10688FEE5A7}"/>
              </a:ext>
            </a:extLst>
          </p:cNvPr>
          <p:cNvSpPr/>
          <p:nvPr/>
        </p:nvSpPr>
        <p:spPr>
          <a:xfrm>
            <a:off x="1669048" y="4130716"/>
            <a:ext cx="2711670" cy="1336145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9A1F56-F172-E1CF-BFDB-049FF57EA25D}"/>
              </a:ext>
            </a:extLst>
          </p:cNvPr>
          <p:cNvSpPr txBox="1"/>
          <p:nvPr/>
        </p:nvSpPr>
        <p:spPr>
          <a:xfrm>
            <a:off x="1722016" y="4528999"/>
            <a:ext cx="25851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存储路径（默</a:t>
            </a:r>
            <a:r>
              <a:rPr lang="en-US" altLang="zh-CN" sz="1000" dirty="0"/>
              <a:t>D/PCCP26/</a:t>
            </a:r>
            <a:r>
              <a:rPr lang="en-US" altLang="zh-CN" sz="1000" dirty="0" err="1"/>
              <a:t>sigID</a:t>
            </a:r>
            <a:r>
              <a:rPr lang="en-US" altLang="zh-CN" sz="1000" dirty="0"/>
              <a:t> </a:t>
            </a:r>
            <a:r>
              <a:rPr lang="zh-CN" altLang="en-US" sz="1000" dirty="0"/>
              <a:t>）</a:t>
            </a:r>
            <a:endParaRPr lang="en-US" altLang="zh-CN" sz="1000" dirty="0"/>
          </a:p>
          <a:p>
            <a:r>
              <a:rPr lang="zh-CN" altLang="en-US" sz="1000" dirty="0"/>
              <a:t>时间列表：</a:t>
            </a:r>
            <a:endParaRPr lang="en-US" altLang="zh-CN" sz="1000" dirty="0"/>
          </a:p>
          <a:p>
            <a:r>
              <a:rPr lang="zh-CN" altLang="en-US" sz="1000" dirty="0"/>
              <a:t>显示表格：</a:t>
            </a:r>
            <a:r>
              <a:rPr lang="en-US" altLang="zh-CN" sz="1000" dirty="0"/>
              <a:t>2</a:t>
            </a:r>
            <a:r>
              <a:rPr lang="zh-CN" altLang="en-US" sz="1000" dirty="0"/>
              <a:t>列，第</a:t>
            </a:r>
            <a:r>
              <a:rPr lang="en-US" altLang="zh-CN" sz="1000" dirty="0"/>
              <a:t>1</a:t>
            </a:r>
            <a:r>
              <a:rPr lang="zh-CN" altLang="en-US" sz="1000" dirty="0"/>
              <a:t>列序号，第</a:t>
            </a:r>
            <a:r>
              <a:rPr lang="en-US" altLang="zh-CN" sz="1000" dirty="0"/>
              <a:t>2</a:t>
            </a:r>
            <a:r>
              <a:rPr lang="zh-CN" altLang="en-US" sz="1000" dirty="0"/>
              <a:t>列检测到的时间（格式：年</a:t>
            </a:r>
            <a:r>
              <a:rPr lang="en-US" altLang="zh-CN" sz="1000" dirty="0"/>
              <a:t>/</a:t>
            </a:r>
            <a:r>
              <a:rPr lang="zh-CN" altLang="en-US" sz="1000" dirty="0"/>
              <a:t>月</a:t>
            </a:r>
            <a:r>
              <a:rPr lang="en-US" altLang="zh-CN" sz="1000" dirty="0"/>
              <a:t>/</a:t>
            </a:r>
            <a:r>
              <a:rPr lang="zh-CN" altLang="en-US" sz="1000" dirty="0"/>
              <a:t>日时</a:t>
            </a:r>
            <a:r>
              <a:rPr lang="en-US" altLang="zh-CN" sz="1000" dirty="0"/>
              <a:t>/</a:t>
            </a:r>
            <a:r>
              <a:rPr lang="zh-CN" altLang="en-US" sz="1000" dirty="0"/>
              <a:t>分</a:t>
            </a:r>
            <a:r>
              <a:rPr lang="en-US" altLang="zh-CN" sz="1000" dirty="0"/>
              <a:t>/</a:t>
            </a:r>
            <a:r>
              <a:rPr lang="zh-CN" altLang="en-US" sz="1000" dirty="0"/>
              <a:t>秒），第三列异常特征数量</a:t>
            </a:r>
            <a:endParaRPr lang="en-US" altLang="zh-CN" sz="1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E5110D0-FDE5-DA35-B328-6053C8BEAFFD}"/>
              </a:ext>
            </a:extLst>
          </p:cNvPr>
          <p:cNvSpPr txBox="1"/>
          <p:nvPr/>
        </p:nvSpPr>
        <p:spPr>
          <a:xfrm>
            <a:off x="1578655" y="5584169"/>
            <a:ext cx="2500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状态条：是否通信成功；通信次数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8838404-7800-ADA8-2AB7-6C37E55A2D20}"/>
              </a:ext>
            </a:extLst>
          </p:cNvPr>
          <p:cNvSpPr txBox="1"/>
          <p:nvPr/>
        </p:nvSpPr>
        <p:spPr>
          <a:xfrm>
            <a:off x="1644345" y="4130716"/>
            <a:ext cx="2833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检测结果（只要有一个特征超过阈值，就统计）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58DDE90-D3BB-882C-F908-23D57F299D01}"/>
              </a:ext>
            </a:extLst>
          </p:cNvPr>
          <p:cNvSpPr txBox="1"/>
          <p:nvPr/>
        </p:nvSpPr>
        <p:spPr>
          <a:xfrm>
            <a:off x="1741564" y="4334257"/>
            <a:ext cx="1298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检测数量：</a:t>
            </a:r>
            <a:r>
              <a:rPr lang="en-US" altLang="zh-CN" sz="1000" dirty="0" err="1"/>
              <a:t>Xxx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60621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DC4AF7-6964-1024-557A-3F5A5DCE9889}"/>
              </a:ext>
            </a:extLst>
          </p:cNvPr>
          <p:cNvSpPr/>
          <p:nvPr/>
        </p:nvSpPr>
        <p:spPr>
          <a:xfrm>
            <a:off x="1532408" y="744132"/>
            <a:ext cx="9036795" cy="5114334"/>
          </a:xfrm>
          <a:prstGeom prst="roundRect">
            <a:avLst>
              <a:gd name="adj" fmla="val 22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B649432-4C16-6F7B-BF5B-6681C168C337}"/>
              </a:ext>
            </a:extLst>
          </p:cNvPr>
          <p:cNvSpPr/>
          <p:nvPr/>
        </p:nvSpPr>
        <p:spPr>
          <a:xfrm>
            <a:off x="1532407" y="744132"/>
            <a:ext cx="9036795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1DCF63-964B-F43B-28EC-237667CF4D9D}"/>
              </a:ext>
            </a:extLst>
          </p:cNvPr>
          <p:cNvSpPr txBox="1"/>
          <p:nvPr/>
        </p:nvSpPr>
        <p:spPr>
          <a:xfrm>
            <a:off x="1532406" y="687167"/>
            <a:ext cx="19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FIP 26.3.10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0F7B32-D8DA-2B77-76BE-BF980D5F73B1}"/>
              </a:ext>
            </a:extLst>
          </p:cNvPr>
          <p:cNvSpPr/>
          <p:nvPr/>
        </p:nvSpPr>
        <p:spPr>
          <a:xfrm>
            <a:off x="10231120" y="744132"/>
            <a:ext cx="338082" cy="2554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93174B-E5E2-397B-C35F-601DF3E20F67}"/>
              </a:ext>
            </a:extLst>
          </p:cNvPr>
          <p:cNvSpPr txBox="1"/>
          <p:nvPr/>
        </p:nvSpPr>
        <p:spPr>
          <a:xfrm>
            <a:off x="10231119" y="687167"/>
            <a:ext cx="33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DDE362C-92E1-9332-CC74-3C0669C167E6}"/>
              </a:ext>
            </a:extLst>
          </p:cNvPr>
          <p:cNvSpPr/>
          <p:nvPr/>
        </p:nvSpPr>
        <p:spPr>
          <a:xfrm>
            <a:off x="1622797" y="1075170"/>
            <a:ext cx="515007" cy="4462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802032-A2D1-4B0F-F014-868D2C960000}"/>
              </a:ext>
            </a:extLst>
          </p:cNvPr>
          <p:cNvSpPr txBox="1"/>
          <p:nvPr/>
        </p:nvSpPr>
        <p:spPr>
          <a:xfrm>
            <a:off x="1578655" y="1095159"/>
            <a:ext cx="66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logo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E6E05C-135A-56C2-FA43-80660B10F2F8}"/>
              </a:ext>
            </a:extLst>
          </p:cNvPr>
          <p:cNvSpPr txBox="1"/>
          <p:nvPr/>
        </p:nvSpPr>
        <p:spPr>
          <a:xfrm>
            <a:off x="4694795" y="1034000"/>
            <a:ext cx="28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PCCP</a:t>
            </a:r>
            <a:r>
              <a:rPr lang="zh-CN" altLang="en-US" dirty="0"/>
              <a:t>断丝监测软件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99EECDA-D8DC-E50E-5F95-35800EFAE92B}"/>
              </a:ext>
            </a:extLst>
          </p:cNvPr>
          <p:cNvSpPr/>
          <p:nvPr/>
        </p:nvSpPr>
        <p:spPr>
          <a:xfrm>
            <a:off x="1532404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6D0992F-93C2-8E36-BB14-D700187F26AD}"/>
              </a:ext>
            </a:extLst>
          </p:cNvPr>
          <p:cNvSpPr/>
          <p:nvPr/>
        </p:nvSpPr>
        <p:spPr>
          <a:xfrm>
            <a:off x="1532406" y="1815940"/>
            <a:ext cx="9036795" cy="3752450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CBDF7A2-07D0-39FF-187F-F2E0A0BC6051}"/>
              </a:ext>
            </a:extLst>
          </p:cNvPr>
          <p:cNvSpPr/>
          <p:nvPr/>
        </p:nvSpPr>
        <p:spPr>
          <a:xfrm>
            <a:off x="2592461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E6920A1-DAD5-9FE2-0D11-5A8A15A74317}"/>
              </a:ext>
            </a:extLst>
          </p:cNvPr>
          <p:cNvSpPr/>
          <p:nvPr/>
        </p:nvSpPr>
        <p:spPr>
          <a:xfrm>
            <a:off x="3652518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9AA6EA9-6992-8F91-E142-F2DA6FFC7ABA}"/>
              </a:ext>
            </a:extLst>
          </p:cNvPr>
          <p:cNvSpPr/>
          <p:nvPr/>
        </p:nvSpPr>
        <p:spPr>
          <a:xfrm>
            <a:off x="4712575" y="1560537"/>
            <a:ext cx="1042277" cy="255402"/>
          </a:xfrm>
          <a:prstGeom prst="roundRect">
            <a:avLst>
              <a:gd name="adj" fmla="val 3115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Tab4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0B1C66-56D1-022A-0DC7-81802B35A9A6}"/>
              </a:ext>
            </a:extLst>
          </p:cNvPr>
          <p:cNvSpPr/>
          <p:nvPr/>
        </p:nvSpPr>
        <p:spPr>
          <a:xfrm>
            <a:off x="4638213" y="1847681"/>
            <a:ext cx="5749161" cy="7177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4D04B6-2B7B-1A93-DC39-B10462575C0C}"/>
              </a:ext>
            </a:extLst>
          </p:cNvPr>
          <p:cNvSpPr/>
          <p:nvPr/>
        </p:nvSpPr>
        <p:spPr>
          <a:xfrm>
            <a:off x="4638214" y="2632345"/>
            <a:ext cx="5749159" cy="6746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7289E7-8FE3-45ED-65C7-35F6EBF9D71C}"/>
              </a:ext>
            </a:extLst>
          </p:cNvPr>
          <p:cNvSpPr/>
          <p:nvPr/>
        </p:nvSpPr>
        <p:spPr>
          <a:xfrm>
            <a:off x="5754852" y="3401299"/>
            <a:ext cx="4632520" cy="21004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9293AA-ACD8-CC53-C85C-AD646500BB85}"/>
              </a:ext>
            </a:extLst>
          </p:cNvPr>
          <p:cNvSpPr/>
          <p:nvPr/>
        </p:nvSpPr>
        <p:spPr>
          <a:xfrm>
            <a:off x="1622797" y="1883783"/>
            <a:ext cx="2833591" cy="36026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74CCEB-4F89-453D-6714-F2EC3A0B6295}"/>
              </a:ext>
            </a:extLst>
          </p:cNvPr>
          <p:cNvSpPr txBox="1"/>
          <p:nvPr/>
        </p:nvSpPr>
        <p:spPr>
          <a:xfrm>
            <a:off x="6366376" y="2044725"/>
            <a:ext cx="28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曲线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3B9C0E-BE5C-2798-A1D1-E53F9BB92AB3}"/>
              </a:ext>
            </a:extLst>
          </p:cNvPr>
          <p:cNvSpPr txBox="1"/>
          <p:nvPr/>
        </p:nvSpPr>
        <p:spPr>
          <a:xfrm>
            <a:off x="6525349" y="6396531"/>
            <a:ext cx="281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短时特征曲线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069582-37F2-83F5-9088-A5AE812BF688}"/>
              </a:ext>
            </a:extLst>
          </p:cNvPr>
          <p:cNvSpPr txBox="1"/>
          <p:nvPr/>
        </p:nvSpPr>
        <p:spPr>
          <a:xfrm>
            <a:off x="6366376" y="2726688"/>
            <a:ext cx="19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曲线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FDF54A4-DFDA-A8B1-3F70-A32D03E2DA92}"/>
              </a:ext>
            </a:extLst>
          </p:cNvPr>
          <p:cNvSpPr/>
          <p:nvPr/>
        </p:nvSpPr>
        <p:spPr>
          <a:xfrm>
            <a:off x="1676821" y="2328690"/>
            <a:ext cx="2711670" cy="1519438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5806B1E-AC2D-81DD-B413-1B3835193753}"/>
              </a:ext>
            </a:extLst>
          </p:cNvPr>
          <p:cNvSpPr/>
          <p:nvPr/>
        </p:nvSpPr>
        <p:spPr>
          <a:xfrm>
            <a:off x="1681068" y="3892747"/>
            <a:ext cx="2711670" cy="496757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69EB30-588B-3467-6834-17F34CBAD018}"/>
              </a:ext>
            </a:extLst>
          </p:cNvPr>
          <p:cNvSpPr txBox="1"/>
          <p:nvPr/>
        </p:nvSpPr>
        <p:spPr>
          <a:xfrm>
            <a:off x="2553994" y="229713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波形设置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C1FEF9-DBE0-9B5E-2B63-D0B54D0641BD}"/>
              </a:ext>
            </a:extLst>
          </p:cNvPr>
          <p:cNvSpPr txBox="1"/>
          <p:nvPr/>
        </p:nvSpPr>
        <p:spPr>
          <a:xfrm>
            <a:off x="1659003" y="2476197"/>
            <a:ext cx="28459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1000" dirty="0"/>
              <a:t>曲线</a:t>
            </a:r>
            <a:r>
              <a:rPr lang="en-US" altLang="zh-CN" sz="1000" dirty="0"/>
              <a:t>1</a:t>
            </a:r>
            <a:r>
              <a:rPr lang="zh-CN" altLang="en-US" sz="1000" dirty="0"/>
              <a:t>曲线</a:t>
            </a:r>
            <a:r>
              <a:rPr lang="en-US" altLang="zh-CN" sz="1000" dirty="0"/>
              <a:t>2</a:t>
            </a:r>
            <a:r>
              <a:rPr lang="zh-CN" altLang="en-US" sz="1000" dirty="0"/>
              <a:t>绘制曲线类型（可供多选）：</a:t>
            </a:r>
            <a:endParaRPr lang="en-US" altLang="zh-CN" sz="1000" dirty="0"/>
          </a:p>
          <a:p>
            <a:pPr marL="546100" indent="-274638"/>
            <a:r>
              <a:rPr lang="zh-CN" altLang="en-US" sz="1000" dirty="0"/>
              <a:t>选项一：声发射时域图</a:t>
            </a:r>
            <a:endParaRPr lang="en-US" altLang="zh-CN" sz="1000" dirty="0"/>
          </a:p>
          <a:p>
            <a:pPr marL="546100" indent="-274638"/>
            <a:r>
              <a:rPr lang="zh-CN" altLang="en-US" sz="1000" dirty="0"/>
              <a:t>选项二：声发射</a:t>
            </a:r>
            <a:r>
              <a:rPr lang="en-US" altLang="zh-CN" sz="1000" dirty="0"/>
              <a:t>PSD</a:t>
            </a:r>
            <a:r>
              <a:rPr lang="zh-CN" altLang="en-US" sz="1000" dirty="0"/>
              <a:t>图</a:t>
            </a:r>
            <a:endParaRPr lang="en-US" altLang="zh-CN" sz="1000" dirty="0"/>
          </a:p>
          <a:p>
            <a:pPr marL="546100" indent="-274638"/>
            <a:r>
              <a:rPr lang="zh-CN" altLang="en-US" sz="1000" dirty="0"/>
              <a:t>选项三：</a:t>
            </a:r>
            <a:r>
              <a:rPr lang="en-US" altLang="zh-CN" sz="1000" dirty="0"/>
              <a:t>DAS</a:t>
            </a:r>
            <a:r>
              <a:rPr lang="zh-CN" altLang="en-US" sz="1000" dirty="0"/>
              <a:t>某通道时域图</a:t>
            </a:r>
            <a:endParaRPr lang="en-US" altLang="zh-CN" sz="1000" dirty="0"/>
          </a:p>
          <a:p>
            <a:pPr marL="546100" indent="-274638"/>
            <a:r>
              <a:rPr lang="zh-CN" altLang="en-US" sz="1000" dirty="0"/>
              <a:t>选项四：</a:t>
            </a:r>
            <a:r>
              <a:rPr lang="en-US" altLang="zh-CN" sz="1000" dirty="0"/>
              <a:t>DAS</a:t>
            </a:r>
            <a:r>
              <a:rPr lang="zh-CN" altLang="en-US" sz="1000" dirty="0"/>
              <a:t>某通道</a:t>
            </a:r>
            <a:r>
              <a:rPr lang="en-US" altLang="zh-CN" sz="1000" dirty="0"/>
              <a:t>PSD</a:t>
            </a:r>
            <a:r>
              <a:rPr lang="zh-CN" altLang="en-US" sz="1000" dirty="0"/>
              <a:t>图</a:t>
            </a:r>
            <a:endParaRPr lang="en-US" altLang="zh-CN" sz="1000" dirty="0"/>
          </a:p>
          <a:p>
            <a:pPr marL="271463"/>
            <a:r>
              <a:rPr lang="zh-CN" altLang="en-US" sz="1000" dirty="0"/>
              <a:t>参数：</a:t>
            </a:r>
            <a:r>
              <a:rPr lang="en-US" altLang="zh-CN" sz="1000" dirty="0"/>
              <a:t>DAS</a:t>
            </a:r>
            <a:r>
              <a:rPr lang="zh-CN" altLang="en-US" sz="1000" dirty="0"/>
              <a:t>通道编号、</a:t>
            </a:r>
            <a:r>
              <a:rPr lang="en-US" altLang="zh-CN" sz="1000" dirty="0"/>
              <a:t>DAS</a:t>
            </a:r>
            <a:r>
              <a:rPr lang="zh-CN" altLang="en-US" sz="1000" dirty="0"/>
              <a:t>带通滤波范围、</a:t>
            </a:r>
            <a:r>
              <a:rPr lang="en-US" altLang="zh-CN" sz="1000" dirty="0"/>
              <a:t>DAS </a:t>
            </a:r>
            <a:r>
              <a:rPr lang="zh-CN" altLang="en-US" sz="1000" dirty="0"/>
              <a:t>计算</a:t>
            </a:r>
            <a:r>
              <a:rPr lang="en-US" altLang="zh-CN" sz="1000" dirty="0"/>
              <a:t>PSD</a:t>
            </a:r>
            <a:r>
              <a:rPr lang="zh-CN" altLang="en-US" sz="1000" dirty="0"/>
              <a:t>时的窗口长度</a:t>
            </a:r>
            <a:endParaRPr lang="en-US" altLang="zh-CN" sz="1000" dirty="0"/>
          </a:p>
          <a:p>
            <a:pPr marL="0" lvl="1"/>
            <a:r>
              <a:rPr lang="en-US" altLang="zh-CN" sz="1000" dirty="0"/>
              <a:t>DAS</a:t>
            </a:r>
            <a:r>
              <a:rPr lang="zh-CN" altLang="en-US" sz="1000" dirty="0"/>
              <a:t>位置时间图的位置范围、降采样因子、时长             </a:t>
            </a:r>
            <a:endParaRPr lang="en-US" altLang="zh-CN" sz="1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EC1FE-3996-3180-FA87-CF67A1D539A4}"/>
              </a:ext>
            </a:extLst>
          </p:cNvPr>
          <p:cNvSpPr txBox="1"/>
          <p:nvPr/>
        </p:nvSpPr>
        <p:spPr>
          <a:xfrm>
            <a:off x="2198990" y="3904249"/>
            <a:ext cx="17986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DAS</a:t>
            </a:r>
            <a:r>
              <a:rPr lang="zh-CN" altLang="en-US" sz="1000" dirty="0"/>
              <a:t>位置</a:t>
            </a:r>
            <a:r>
              <a:rPr lang="en-US" altLang="zh-CN" sz="1000" dirty="0"/>
              <a:t>-</a:t>
            </a:r>
            <a:r>
              <a:rPr lang="zh-CN" altLang="en-US" sz="1000" dirty="0"/>
              <a:t>短时特征曲线设置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86675A3-4E40-D7DC-3F77-211A56947B8E}"/>
              </a:ext>
            </a:extLst>
          </p:cNvPr>
          <p:cNvSpPr txBox="1"/>
          <p:nvPr/>
        </p:nvSpPr>
        <p:spPr>
          <a:xfrm>
            <a:off x="1685315" y="4113755"/>
            <a:ext cx="2703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勾选的第一个特征绘图（最多</a:t>
            </a:r>
            <a:r>
              <a:rPr lang="en-US" altLang="zh-CN" sz="1000" dirty="0"/>
              <a:t>1</a:t>
            </a:r>
            <a:r>
              <a:rPr lang="zh-CN" altLang="en-US" sz="1000" dirty="0"/>
              <a:t>个）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4C2F3A4-B4F7-B90A-927A-5958C9A6B5A8}"/>
              </a:ext>
            </a:extLst>
          </p:cNvPr>
          <p:cNvSpPr/>
          <p:nvPr/>
        </p:nvSpPr>
        <p:spPr>
          <a:xfrm>
            <a:off x="1676819" y="4434368"/>
            <a:ext cx="2711670" cy="282149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DD7BA9C-9A1D-F776-4C60-9472D38D6965}"/>
              </a:ext>
            </a:extLst>
          </p:cNvPr>
          <p:cNvSpPr txBox="1"/>
          <p:nvPr/>
        </p:nvSpPr>
        <p:spPr>
          <a:xfrm>
            <a:off x="1740092" y="4977388"/>
            <a:ext cx="2585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  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A868084-6FF3-19B4-05DD-E0DD5BE2AB00}"/>
              </a:ext>
            </a:extLst>
          </p:cNvPr>
          <p:cNvSpPr txBox="1"/>
          <p:nvPr/>
        </p:nvSpPr>
        <p:spPr>
          <a:xfrm>
            <a:off x="1578655" y="5584169"/>
            <a:ext cx="2500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状态条：是否通信成功；通信次数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2FC5CEC-D1E0-AC0C-DD77-B1A3F668CFAF}"/>
              </a:ext>
            </a:extLst>
          </p:cNvPr>
          <p:cNvSpPr txBox="1"/>
          <p:nvPr/>
        </p:nvSpPr>
        <p:spPr>
          <a:xfrm>
            <a:off x="755514" y="6396531"/>
            <a:ext cx="1298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检测数量：</a:t>
            </a:r>
            <a:r>
              <a:rPr lang="en-US" altLang="zh-CN" sz="1000" dirty="0" err="1"/>
              <a:t>Xxx</a:t>
            </a:r>
            <a:endParaRPr lang="zh-CN" altLang="en-US" sz="1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0FE103-7B02-AAEF-3F3E-0AB62CE888FF}"/>
              </a:ext>
            </a:extLst>
          </p:cNvPr>
          <p:cNvSpPr txBox="1"/>
          <p:nvPr/>
        </p:nvSpPr>
        <p:spPr>
          <a:xfrm>
            <a:off x="6525349" y="4211146"/>
            <a:ext cx="270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DAS </a:t>
            </a:r>
            <a:r>
              <a:rPr lang="zh-CN" altLang="en-US" dirty="0"/>
              <a:t>位置</a:t>
            </a:r>
            <a:r>
              <a:rPr lang="en-US" altLang="zh-CN" dirty="0"/>
              <a:t>-</a:t>
            </a:r>
            <a:r>
              <a:rPr lang="zh-CN" altLang="en-US" dirty="0"/>
              <a:t>时间图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9D1F13-E713-BA1A-2859-1FE9F4A573B2}"/>
              </a:ext>
            </a:extLst>
          </p:cNvPr>
          <p:cNvSpPr/>
          <p:nvPr/>
        </p:nvSpPr>
        <p:spPr>
          <a:xfrm>
            <a:off x="4638213" y="3401299"/>
            <a:ext cx="1019421" cy="2085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1F8048-309D-4E49-8C72-F12894348E09}"/>
              </a:ext>
            </a:extLst>
          </p:cNvPr>
          <p:cNvSpPr txBox="1"/>
          <p:nvPr/>
        </p:nvSpPr>
        <p:spPr>
          <a:xfrm>
            <a:off x="4659761" y="3887818"/>
            <a:ext cx="1123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DAS</a:t>
            </a:r>
            <a:r>
              <a:rPr lang="zh-CN" altLang="en-US" dirty="0"/>
              <a:t>位置</a:t>
            </a:r>
            <a:r>
              <a:rPr lang="en-US" altLang="zh-CN" dirty="0"/>
              <a:t>-</a:t>
            </a:r>
            <a:r>
              <a:rPr lang="zh-CN" altLang="en-US" dirty="0"/>
              <a:t>短时特征曲线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93550D6-3631-8285-72B5-D04F34860533}"/>
              </a:ext>
            </a:extLst>
          </p:cNvPr>
          <p:cNvSpPr/>
          <p:nvPr/>
        </p:nvSpPr>
        <p:spPr>
          <a:xfrm>
            <a:off x="1676819" y="1934065"/>
            <a:ext cx="2711670" cy="346832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CD70098-24B5-EFEB-74C4-C5C4EE088F87}"/>
              </a:ext>
            </a:extLst>
          </p:cNvPr>
          <p:cNvSpPr txBox="1"/>
          <p:nvPr/>
        </p:nvSpPr>
        <p:spPr>
          <a:xfrm>
            <a:off x="1736723" y="1990299"/>
            <a:ext cx="24569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通信按钮、默认端口号、默认</a:t>
            </a:r>
            <a:r>
              <a:rPr lang="en-US" altLang="zh-CN" sz="1000" dirty="0"/>
              <a:t>IP</a:t>
            </a:r>
            <a:endParaRPr lang="zh-CN" altLang="en-US" sz="1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D393EA6-9938-1E7D-66FC-66C792077EA6}"/>
              </a:ext>
            </a:extLst>
          </p:cNvPr>
          <p:cNvSpPr txBox="1"/>
          <p:nvPr/>
        </p:nvSpPr>
        <p:spPr>
          <a:xfrm>
            <a:off x="2146473" y="4461356"/>
            <a:ext cx="17986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/>
              <a:t>触发定位、触发存储设置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9A16227-57C0-E073-5CA6-1E36419C52A5}"/>
              </a:ext>
            </a:extLst>
          </p:cNvPr>
          <p:cNvSpPr/>
          <p:nvPr/>
        </p:nvSpPr>
        <p:spPr>
          <a:xfrm>
            <a:off x="1676819" y="4780299"/>
            <a:ext cx="2711670" cy="474283"/>
          </a:xfrm>
          <a:prstGeom prst="roundRect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B8F0947-7323-B3E5-E83D-CE8F59F897B6}"/>
              </a:ext>
            </a:extLst>
          </p:cNvPr>
          <p:cNvSpPr txBox="1"/>
          <p:nvPr/>
        </p:nvSpPr>
        <p:spPr>
          <a:xfrm>
            <a:off x="2077521" y="4816227"/>
            <a:ext cx="1798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/>
              <a:t>原始数据存储：路径、</a:t>
            </a:r>
            <a:r>
              <a:rPr lang="en-US" altLang="zh-CN" sz="1000" dirty="0"/>
              <a:t>DAS</a:t>
            </a:r>
            <a:r>
              <a:rPr lang="zh-CN" altLang="en-US" sz="1000" dirty="0"/>
              <a:t>单独存储、联合存储</a:t>
            </a:r>
          </a:p>
        </p:txBody>
      </p:sp>
    </p:spTree>
    <p:extLst>
      <p:ext uri="{BB962C8B-B14F-4D97-AF65-F5344CB8AC3E}">
        <p14:creationId xmlns:p14="http://schemas.microsoft.com/office/powerpoint/2010/main" val="1075950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541</Words>
  <Application>Microsoft Office PowerPoint</Application>
  <PresentationFormat>宽屏</PresentationFormat>
  <Paragraphs>91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 国恒</dc:creator>
  <cp:lastModifiedBy>齐 国恒</cp:lastModifiedBy>
  <cp:revision>2</cp:revision>
  <dcterms:created xsi:type="dcterms:W3CDTF">2026-03-10T14:45:01Z</dcterms:created>
  <dcterms:modified xsi:type="dcterms:W3CDTF">2026-03-13T04:00:23Z</dcterms:modified>
</cp:coreProperties>
</file>